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Logistic</c:v>
                  </c:pt>
                  <c:pt idx="1">
                    <c:v>MLP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0.989</c:v>
                </c:pt>
                <c:pt idx="1">
                  <c:v>0.9873</c:v>
                </c:pt>
                <c:pt idx="2">
                  <c:v>0.9828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95"/>
          <c:min val="0.9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1005840"/>
            <a:ext cx="3108960" cy="310896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200400"/>
            <a:ext cx="2377440" cy="237744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17904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 GENOMICS · EXPLAINABLE AI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설명가능 AI 기반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암종 분류 · 유전자 근거 설명 시스템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58368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예측을 넘어 </a:t>
            </a:r>
            <a:pPr indent="0" marL="0">
              <a:buNone/>
            </a:pP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“왜 그렇게 예측했는가”</a:t>
            </a:r>
            <a:pPr indent="0" marL="0">
              <a:buNone/>
            </a:pPr>
            <a:r>
              <a:rPr lang="en-US" sz="155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답하는 RAG · GraphRAG · LLM 파이프라인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58368" y="384048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9776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 PANCAN · 6 암종 · 3 모델 앙상블 · Neo4j GraphRAG · Google Gemini 2.5 Flash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8368" y="45262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 목적 · 임상 진단으로 사용할 수 없습니다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GOAL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블랙박스 예측을 넘어, 근거를 말하는 시스템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517904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— 예측만으로는 부족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1883664"/>
            <a:ext cx="35753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고차원 유전자 발현으로 암종은 잘 맞히지만,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“왜 그 암종인가”, “어떤 유전자 때문인가”는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블랙박스로 남는다.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연구자가 신뢰·검증하려면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유전자 단위 근거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출처가 필요하다.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10328" y="1517904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— 예측 + 설명 + 근거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10328" y="1883664"/>
            <a:ext cx="35753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하나 → 3모델 예측 · 공통 중요유전자 ·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문서 · GraphRAG 연결 · LLM 설명까지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화면에서 끝까지 이어진다.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가치는 정확도 극대화가 아니라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가능성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0B2A3C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“RAG 근거 없이 LLM은 생물학적 주장을 하지 않는다” — 근거·출처 강제, 불확실성은 ‘근거 제한적’으로 명시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연구·교육용 설명 시스템 · 임상 진단 아님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321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엔드투엔드 파이프라인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0F7FA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17282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 PANCAN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746504" y="2286000"/>
            <a:ext cx="10058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856232" y="160020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0F7FA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313432" y="17282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2313432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901952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3모델 예측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901952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RF · MLP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앙상블 합의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145536" y="2286000"/>
            <a:ext cx="10058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255264" y="160020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0F7FA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12464" y="17282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3712464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300984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· 합의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300984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gene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비교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44568" y="2286000"/>
            <a:ext cx="10058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4654296" y="160020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0F7FA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111496" y="17282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3"/>
          <p:cNvSpPr/>
          <p:nvPr/>
        </p:nvSpPr>
        <p:spPr>
          <a:xfrm>
            <a:off x="5111496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700016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근거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700016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문서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웹 fallback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0" y="2286000"/>
            <a:ext cx="10058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053328" y="160020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E7F8F3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510528" y="1728216"/>
            <a:ext cx="365760" cy="365760"/>
          </a:xfrm>
          <a:prstGeom prst="ellipse">
            <a:avLst/>
          </a:prstGeom>
          <a:solidFill>
            <a:srgbClr val="0E9E82"/>
          </a:solidFill>
          <a:ln/>
        </p:spPr>
      </p:sp>
      <p:sp>
        <p:nvSpPr>
          <p:cNvPr id="32" name="Text 29"/>
          <p:cNvSpPr/>
          <p:nvPr/>
        </p:nvSpPr>
        <p:spPr>
          <a:xfrm>
            <a:off x="6510528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099048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6099048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탐색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342632" y="2286000"/>
            <a:ext cx="10058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7452360" y="160020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E7F8F3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909560" y="1728216"/>
            <a:ext cx="365760" cy="365760"/>
          </a:xfrm>
          <a:prstGeom prst="ellipse">
            <a:avLst/>
          </a:prstGeom>
          <a:solidFill>
            <a:srgbClr val="0E9E82"/>
          </a:solidFill>
          <a:ln/>
        </p:spPr>
      </p:sp>
      <p:sp>
        <p:nvSpPr>
          <p:cNvPr id="38" name="Text 35"/>
          <p:cNvSpPr/>
          <p:nvPr/>
        </p:nvSpPr>
        <p:spPr>
          <a:xfrm>
            <a:off x="7909560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49808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설명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749808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 프레이밍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57200" y="3246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0B2A3C"/>
          </a:solidFill>
          <a:ln/>
        </p:spPr>
      </p:sp>
      <p:sp>
        <p:nvSpPr>
          <p:cNvPr id="42" name="Text 39"/>
          <p:cNvSpPr/>
          <p:nvPr/>
        </p:nvSpPr>
        <p:spPr>
          <a:xfrm>
            <a:off x="731520" y="340156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· Streamlit 대시보드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선택 → 예측 3종 → 확률 → 중요유전자(합의 표시) → 근거 카드 → GraphRAG 관계 → 대화형 LLM 설명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연구·교육용 설명 시스템 · 임상 진단 아님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8321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TCGA PANCAN 유전자 발현 데이터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0F7FA"/>
          </a:solidFill>
          <a:ln w="12700">
            <a:solidFill>
              <a:srgbClr val="D9E6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5179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2084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암종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331720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0F7FA"/>
          </a:solidFill>
          <a:ln w="12700">
            <a:solidFill>
              <a:srgbClr val="D9E6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31720" y="15179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331720" y="2084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top-variance 유전자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06240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0F7FA"/>
          </a:solidFill>
          <a:ln w="12700">
            <a:solidFill>
              <a:srgbClr val="D9E6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0" y="15179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206240" y="2084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6364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암종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1481328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E7F1F6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148132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 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유방암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70648" y="1481328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E7F1F6"/>
          </a:solidFill>
          <a:ln/>
        </p:spPr>
      </p:sp>
      <p:sp>
        <p:nvSpPr>
          <p:cNvPr id="19" name="Text 16"/>
          <p:cNvSpPr/>
          <p:nvPr/>
        </p:nvSpPr>
        <p:spPr>
          <a:xfrm>
            <a:off x="7470648" y="148132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LUAD 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폐선암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63640" y="1938528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E7F1F6"/>
          </a:solidFill>
          <a:ln/>
        </p:spPr>
      </p:sp>
      <p:sp>
        <p:nvSpPr>
          <p:cNvPr id="21" name="Text 18"/>
          <p:cNvSpPr/>
          <p:nvPr/>
        </p:nvSpPr>
        <p:spPr>
          <a:xfrm>
            <a:off x="6263640" y="193852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LUSC 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폐편평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70648" y="1938528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E7F1F6"/>
          </a:solidFill>
          <a:ln/>
        </p:spPr>
      </p:sp>
      <p:sp>
        <p:nvSpPr>
          <p:cNvPr id="23" name="Text 20"/>
          <p:cNvSpPr/>
          <p:nvPr/>
        </p:nvSpPr>
        <p:spPr>
          <a:xfrm>
            <a:off x="7470648" y="193852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 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신장암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63640" y="2395728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E7F1F6"/>
          </a:solidFill>
          <a:ln/>
        </p:spPr>
      </p:sp>
      <p:sp>
        <p:nvSpPr>
          <p:cNvPr id="25" name="Text 22"/>
          <p:cNvSpPr/>
          <p:nvPr/>
        </p:nvSpPr>
        <p:spPr>
          <a:xfrm>
            <a:off x="6263640" y="239572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COAD 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대장암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470648" y="2395728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E7F1F6"/>
          </a:solidFill>
          <a:ln/>
        </p:spPr>
      </p:sp>
      <p:sp>
        <p:nvSpPr>
          <p:cNvPr id="27" name="Text 24"/>
          <p:cNvSpPr/>
          <p:nvPr/>
        </p:nvSpPr>
        <p:spPr>
          <a:xfrm>
            <a:off x="7470648" y="239572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THCA 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갑상선암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2926080"/>
            <a:ext cx="55321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58368" y="3072384"/>
            <a:ext cx="5129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파이프라인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58368" y="3438144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Expression matrix 전치 → 샘플 × 유전자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TCGA 바코드로 종양 조직 · 암종 라벨 매칭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6개 암종 서브셋 → 상위 분산 1,500 유전자 선택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결측 처리 → 암종 비율 유지 Stratified 80/20 split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26480" y="2926080"/>
            <a:ext cx="25603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327648" y="307238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원칙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27648" y="3438144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불균형 존재 (BRCA ~30%)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Accuracy 단독 해석 금지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Macro F1 을 주지표로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set은 최종 평가에만 사용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연구·교육용 설명 시스템 · 임상 진단 아님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321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3개 모델 성능 비교 (test set)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4937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54480"/>
          <a:ext cx="3108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502920"/>
                <a:gridCol w="530352"/>
                <a:gridCol w="530352"/>
                <a:gridCol w="58521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577840" y="32918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E7F8F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742432" y="340156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 모델 · Logistic Regression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E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고차원·저샘플에서 선형 모델이 우세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연구·교육용 설명 시스템 · 임상 진단 아님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8321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CONSENSUS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 간 합의가 RAG 우선순위를 만든다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BECEC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6642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모델 공통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genes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40080" y="27614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강한 근거 후보 — 이번 데이터셋에선 없음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5087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7F8F3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9000" y="16642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모델 공통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2900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7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genes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3429000" y="27614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차순위 RAG 검색 대상 (LUM · GPRC5A · HOXC6 …)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15087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7F1F6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0" y="16642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모델 고유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1792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genes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6217920" y="27614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참고용 — 단일 모델 신호, 신중 해석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B2A3C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675888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스토리 —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LR은 계수, RF·MLP는 permutation importance로 Top gene 추출. 여러 모델이 함께 지목한 유전자일수록 RAG로 근거를 먼저 파고든다.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연구·교육용 설명 시스템 · 임상 진단 아님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321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EVIDENCE LAYER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유전자 근거 문서 검색층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563624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curated 코퍼스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1929384"/>
            <a:ext cx="362102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 유전자 근거 문서 (기능 · 암 관련성 · pathway · 출처)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검색 + 유전자/암종 메타데이터 필터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섹션별 청킹 — 기능 / 암연관 / 치료타겟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64608" y="1563624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fallback (근거 부족 시)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64608" y="1929384"/>
            <a:ext cx="362102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근거 없는 유전자 → 별칭 검색 후 외부 출처 부착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· GeneCards 등 공개 DB 링크 + 요약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‘검증 필요(external_review)’로 명시해 신뢰도 구분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E7F8F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3429000"/>
            <a:ext cx="502920" cy="502920"/>
          </a:xfrm>
          <a:prstGeom prst="ellipse">
            <a:avLst/>
          </a:prstGeom>
          <a:solidFill>
            <a:srgbClr val="0E9E8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355473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3401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방지 규칙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325880" y="3712464"/>
            <a:ext cx="717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제공된 검색 문서 안의 정보만 사용 · 인용 출처 강제 · 문서에 없으면 추측 대신 ‘근거 제한적’ 표기 ·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유전자를 암의 직접 원인으로 단정하지 않고 ‘관련 신호/후보’로 제한 표현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연구·교육용 설명 시스템 · 임상 진단 아님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8321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 GraphRAG — 관계 기반 근거 탐색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001000" y="457200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0" y="457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E7F8F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499616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195681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536192" y="14173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E7F8F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36192" y="1499616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536192" y="195681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615184" y="14173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E7F8F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15184" y="1499616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615184" y="195681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94176" y="14173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E7F8F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94176" y="1499616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3694176" y="195681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2514600"/>
            <a:ext cx="43159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8368" y="266090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예시  ·  graph_context(TG, THCA)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8368" y="3026664"/>
            <a:ext cx="391363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 ─ASSOCIATED_WITH→ THCA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 ─IMPORTANT_FOR_MODEL→ logistic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 ─DOCUMENTED_IN→ 근거문서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 ─RELATED_TO→ 갑상선호르몬 생합성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 ─CO_RELATED_WITH→ TPO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937760" y="2514600"/>
            <a:ext cx="3749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138928" y="266090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답변에 연결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138928" y="3026664"/>
            <a:ext cx="33467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· Cancer · Model · Doc · Source 노드 그래프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context_builder가 GraphRAG edge를 컨텍스트에 주입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질문당 평균 13 edges 포함 (graph_available=True)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실패해도 앱은 죽지 않고 문서 기반으로 폴백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07492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접속: neo4j+ssc:// (TLS 검증 완화, 발표·개발용) · graph ping OK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연구·교육용 설명 시스템 · 임상 진단 아님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321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전환 — Google Gemini 2.5 Flash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001000" y="457200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0" y="457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7F8F3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1591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Gemini 2.5 Flash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21792" y="19751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답변 생성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072384" y="1984248"/>
            <a:ext cx="25603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337560" y="1463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0F7FA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02152" y="1591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Ollama Gemma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502152" y="19751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실험용(비활성)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52744" y="1984248"/>
            <a:ext cx="25603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17920" y="1463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7F1F6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82512" y="1591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규칙·문서 기반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382512" y="19751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안전망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2578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단계가 실패해도 앱은 죽지 않고 다음 provider로 폴백 · 사용된 경로를 UI에 표시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297180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8368" y="3118104"/>
            <a:ext cx="3758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전환했나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8368" y="3483864"/>
            <a:ext cx="37581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Gemma는 긴 RAG 프롬프트에서 런타임 크래시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 500 · cold-load 47~82s) → 실시간 대화 부적합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API로 안정적·자연스러운 한국어 설명 확보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709160" y="297180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910328" y="3118104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 · 표현 원칙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910328" y="3483864"/>
            <a:ext cx="35753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프롬프트엔 공개 정보만 (개인정보 미포함)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답변 말미에 임상 사용 금지 안전문구 자동 삽입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‘원인’ 단정 금지 → ‘모델이 중요하게 본 신호’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연구·교육용 설명 시스템 · 임상 진단 아님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321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VERIFICATION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 호출 스모크 테스트 결과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384048" cy="384048"/>
          </a:xfrm>
          <a:prstGeom prst="ellipse">
            <a:avLst/>
          </a:prstGeom>
          <a:solidFill>
            <a:srgbClr val="E7F8F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" y="1559052"/>
            <a:ext cx="192024" cy="192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14447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provider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3383280" y="144475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provider=gemini · error 없음 · 실제 생성 성공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02920" y="2029968"/>
            <a:ext cx="384048" cy="384048"/>
          </a:xfrm>
          <a:prstGeom prst="ellipse">
            <a:avLst/>
          </a:prstGeom>
          <a:solidFill>
            <a:srgbClr val="E7F8F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2125980"/>
            <a:ext cx="192024" cy="1920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ping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3383280" y="2011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(True, None) · 연결 정상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02920" y="2596896"/>
            <a:ext cx="384048" cy="384048"/>
          </a:xfrm>
          <a:prstGeom prst="ellipse">
            <a:avLst/>
          </a:prstGeom>
          <a:solidFill>
            <a:srgbClr val="E7F8F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" y="269290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24128" y="25786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주입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3383280" y="25786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질문당 13 edges · graph_available=True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02920" y="3163824"/>
            <a:ext cx="384048" cy="384048"/>
          </a:xfrm>
          <a:prstGeom prst="ellipse">
            <a:avLst/>
          </a:prstGeom>
          <a:solidFill>
            <a:srgbClr val="E7F8F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" y="3259836"/>
            <a:ext cx="192024" cy="1920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24128" y="314553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hybrid_answer 전체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3383280" y="314553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요약+유전자 근거+GraphRAG+안전문구 자동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57200" y="3822192"/>
            <a:ext cx="8229600" cy="896112"/>
          </a:xfrm>
          <a:prstGeom prst="roundRect">
            <a:avLst>
              <a:gd name="adj" fmla="val 10204"/>
            </a:avLst>
          </a:prstGeom>
          <a:solidFill>
            <a:srgbClr val="0B2A3C"/>
          </a:solidFill>
          <a:ln/>
        </p:spPr>
      </p:sp>
      <p:sp>
        <p:nvSpPr>
          <p:cNvPr id="23" name="Text 16"/>
          <p:cNvSpPr/>
          <p:nvPr/>
        </p:nvSpPr>
        <p:spPr>
          <a:xfrm>
            <a:off x="658368" y="39136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생성 답변 (발췌)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58368" y="4151376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샘플은 모델이 갑상선암으로 99.6% 확률·높은 신뢰도로 예측했습니다. TG는 티로글로불린을 암호화하는 갑상선 분화 마커로 THCA 관련성이 보고되었습니다. 다만 이는 원인이 아니라 관련 신호입니다.”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연구·교육용 설명 시스템 · 임상 진단 아님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8321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 1 · INTERPRETABILITY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3모델 합의 기반 해석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572768"/>
            <a:ext cx="502920" cy="50292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8" y="1698498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1426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353312" y="1627632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블랙박스 예측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53312" y="192024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고차원 유전자 발현으로 암종은 잘 맞히지만, 어떤 유전자가 왜 중요한지는 설명하지 못한다.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468880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286893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3312" y="25968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353312" y="2798064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모델·단일 방식의 편향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53312" y="3090672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RF의 impurity 기반 중요도는 상관된 유전자에 치우쳐, 하나의 모델·방식만 믿기 어렵다.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3639312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" y="3913632"/>
            <a:ext cx="502920" cy="502920"/>
          </a:xfrm>
          <a:prstGeom prst="ellipse">
            <a:avLst/>
          </a:prstGeom>
          <a:solidFill>
            <a:srgbClr val="0E9E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8" y="4039362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53312" y="3767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353312" y="3968496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3모델 × permutation × 합의 랭킹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353312" y="426110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LR·RF·MLP 모두 permutation importance로 통일하고, 여러 모델이 함께 지목한 유전자를 우선 근거로 채택 (Macro F1 0.989).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연구·교육용 설명 시스템 · 임상 진단 아님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321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 2 · TRUSTWORTHY LLM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근거 강제 · Hallucination 방지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572768"/>
            <a:ext cx="502920" cy="50292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8" y="1698498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1426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353312" y="1627632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생물의학 Hallucination 위험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53312" y="192024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LLM에 유전자·암 관계를 물으면, 학습데이터 기반 추측을 사실처럼 단정할 수 있다.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468880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286893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3312" y="25968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353312" y="2798064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근거를 강제하지 않으면 통제 불가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53312" y="3090672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일반적인 LLM 호출은 무엇을 근거로 답했는지 검증할 방법이 없다.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3639312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" y="3913632"/>
            <a:ext cx="502920" cy="502920"/>
          </a:xfrm>
          <a:prstGeom prst="ellipse">
            <a:avLst/>
          </a:prstGeom>
          <a:solidFill>
            <a:srgbClr val="0E9E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8" y="4039362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53312" y="3767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353312" y="3968496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문서 21개 + 출처 인용 강제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353312" y="426110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문서에 없으면 '근거 제한적'로 답하게 하고, 유전자를 '원인'이 아닌 '관련 신호'로만 표현하도록 프롬프트로 강제.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연구·교육용 설명 시스템 · 임상 진단 아님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321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 3 · RELATIONAL EVIDENCE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 GraphRAG 도입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572768"/>
            <a:ext cx="502920" cy="50292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8" y="1698498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1426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353312" y="1627632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정보의 부재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53312" y="192024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 문서, TPO 문서는 있어도 'TG와 TPO가 함께 연관된다'는 관계 자체는 문서 어디에도 없다.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468880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286893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3312" y="25968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353312" y="2798064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RAG는 본질적으로 문서 단위 검색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53312" y="3090672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청크·임베딩 검색은 유사한 텍스트를 찾을 뿐, 노드 간 관계를 표현하는 구조가 없다.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3639312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" y="3913632"/>
            <a:ext cx="502920" cy="502920"/>
          </a:xfrm>
          <a:prstGeom prst="ellipse">
            <a:avLst/>
          </a:prstGeom>
          <a:solidFill>
            <a:srgbClr val="0E9E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8" y="4039362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53312" y="3767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353312" y="3968496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Gene·Cancer·Model·Doc 그래프 구축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353312" y="426110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Neo4j에 관계형 그래프를 구축하고 Cypher로 관계 타입까지 조회해, 질문당 평균 13개 edge를 LLM 컨텍스트에 주입.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연구·교육용 설명 시스템 · 임상 진단 아님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321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 4 · RUNTIME STABILITY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Provider 전환 (Ollama → Gemini)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572768"/>
            <a:ext cx="502920" cy="50292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8" y="1698498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1426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353312" y="1627632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LLM 응답 실패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53312" y="192024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컨텍스트가 포함된 긴 프롬프트에서 대화가 자주 끊기고 응답이 오지 않는다.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468880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286893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3312" y="25968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353312" y="2798064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서버측 런타임 크래시 (실측 진단)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53312" y="3090672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직접 호출에서도 HTTP 500 재현, cold-load만 47~82초 — 앱·LangChain이 아닌 Ollama 런타임 문제로 확정.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3639312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6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" y="3913632"/>
            <a:ext cx="502920" cy="502920"/>
          </a:xfrm>
          <a:prstGeom prst="ellipse">
            <a:avLst/>
          </a:prstGeom>
          <a:solidFill>
            <a:srgbClr val="0E9E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8" y="4039362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53312" y="3767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353312" y="3968496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기본 전환 + provider 체인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353312" y="426110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우선 시도 → 실패 시 규칙 기반 폴백, Ollama는 실험용으로 격하해 안정성 확보.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연구·교육용 설명 시스템 · 임상 진단 아님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321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108960"/>
            <a:ext cx="2743200" cy="2743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914400"/>
            <a:ext cx="2743200" cy="274320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690372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OUTLOOK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53312" y="8046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한계와 다음 단계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160020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123B5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55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157984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유전자는 인과가 아닌 모델 근거·문헌 후보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neo4j+ssc:// 는 인증서 검증 완화 (운영엔 부적합)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3모델 공통 유전자 0개 — 근거 강도 제한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60020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123B5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755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83480" y="2157984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neo4j+s:// 정식 인증서로 운영 전환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코퍼스 21→50 유전자 확장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리포트를 Gemini 기준으로 정합화 · 테스트 커버리지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결론 —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정확도(Macro F1 0.989)에 더해, RAG·GraphRAG·Gemini로 ‘근거를 말하는’ 설명 파이프라인을 엔드투엔드로 완성했다.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연구·교육 목적 · 임상 진단으로 사용할 수 없습니다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TCGA 설명가능 AI 암종 분류 시스템</dc:title>
  <dc:subject>PptxGenJS Presentation</dc:subject>
  <dc:creator>LLM_project</dc:creator>
  <cp:lastModifiedBy>LLM_project</cp:lastModifiedBy>
  <cp:revision>1</cp:revision>
  <dcterms:created xsi:type="dcterms:W3CDTF">2026-07-06T11:40:15Z</dcterms:created>
  <dcterms:modified xsi:type="dcterms:W3CDTF">2026-07-06T11:40:15Z</dcterms:modified>
</cp:coreProperties>
</file>